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47472"/>
            <a:ext cx="146304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7947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LAB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68096"/>
            <a:ext cx="96926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F6B"/>
                </a:solidFill>
                <a:latin typeface="Aptos"/>
              </a:rPr>
              <a:t>Study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A generic sample deck for a wearable signal-quality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92240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D6D87"/>
                </a:solidFill>
                <a:latin typeface="Aptos"/>
              </a:rPr>
              <a:t>LAB MEETING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6848" y="6382512"/>
            <a:ext cx="384048" cy="274320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56848" y="64145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1"/>
            <a:ext cx="8046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102F6B"/>
                </a:solidFill>
                <a:latin typeface="Aptos"/>
              </a:rPr>
              <a:t>Study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834640"/>
            <a:ext cx="7315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A generic sample deck for a wearable signal-quality 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57600"/>
            <a:ext cx="4846320" cy="914400"/>
          </a:xfrm>
          <a:prstGeom prst="roundRect">
            <a:avLst/>
          </a:prstGeom>
          <a:solidFill>
            <a:srgbClr val="E4F5F4"/>
          </a:solidFill>
          <a:ln w="8890">
            <a:solidFill>
              <a:srgbClr val="E4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785615"/>
            <a:ext cx="451713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6A6"/>
                </a:solidFill>
                <a:latin typeface="Aptos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4041648"/>
            <a:ext cx="451713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F6B"/>
                </a:solidFill>
                <a:latin typeface="Aptos"/>
              </a:rPr>
              <a:t>Use one sentence to state the meeting's purpose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47472"/>
            <a:ext cx="146304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7947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68096"/>
            <a:ext cx="96926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F6B"/>
                </a:solidFill>
                <a:latin typeface="Aptos"/>
              </a:rPr>
              <a:t>Question and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Why signal quality matters before downstream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92240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D6D87"/>
                </a:solidFill>
                <a:latin typeface="Aptos"/>
              </a:rPr>
              <a:t>LAB MEETING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6848" y="6382512"/>
            <a:ext cx="384048" cy="274320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56848" y="64145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96012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02F6B"/>
                </a:solidFill>
                <a:latin typeface="Aptos"/>
              </a:rPr>
              <a:t>Question and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182112"/>
            <a:ext cx="6675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Why signal quality matters before downstream modeling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47472"/>
            <a:ext cx="146304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7947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68096"/>
            <a:ext cx="96926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F6B"/>
                </a:solidFill>
                <a:latin typeface="Aptos"/>
              </a:rPr>
              <a:t>Research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A small pilot comparing three preprocessing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92240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D6D87"/>
                </a:solidFill>
                <a:latin typeface="Aptos"/>
              </a:rPr>
              <a:t>LAB MEETING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6848" y="6382512"/>
            <a:ext cx="384048" cy="274320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56848" y="64145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874519"/>
            <a:ext cx="3474720" cy="4160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23944" y="1874519"/>
            <a:ext cx="3474720" cy="4160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1874519"/>
            <a:ext cx="3474720" cy="4160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35915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F6B"/>
                </a:solidFill>
                <a:latin typeface="Aptos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35915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F6B"/>
                </a:solidFill>
                <a:latin typeface="Aptos"/>
              </a:rPr>
              <a:t>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235915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F6B"/>
                </a:solidFill>
                <a:latin typeface="Aptos"/>
              </a:rPr>
              <a:t>Open issue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80360"/>
            <a:ext cx="2880360" cy="1463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Which stream is reliable enough to analyze?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What changed since last review?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2880360"/>
            <a:ext cx="2880360" cy="1463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Pilot preprocessing is complete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Review set is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2" y="2880360"/>
            <a:ext cx="2880360" cy="1463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Define the validation slice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Agree on one comparison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47472"/>
            <a:ext cx="146304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7947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68096"/>
            <a:ext cx="96926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F6B"/>
                </a:solidFill>
                <a:latin typeface="Aptos"/>
              </a:rPr>
              <a:t>Methods /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From raw streams to a reviewed analysis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92240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D6D87"/>
                </a:solidFill>
                <a:latin typeface="Aptos"/>
              </a:rPr>
              <a:t>LAB MEETING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6848" y="6382512"/>
            <a:ext cx="384048" cy="274320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56848" y="64145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874519"/>
            <a:ext cx="5504688" cy="4160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8776" y="1874519"/>
            <a:ext cx="5504688" cy="4160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59152"/>
            <a:ext cx="47548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F6B"/>
                </a:solidFill>
                <a:latin typeface="Aptos"/>
              </a:rPr>
              <a:t>Add a short method description and assumptions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63240"/>
            <a:ext cx="4572000" cy="1645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Inputs and inclusion rules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Transformation or model step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Review and quality checks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108960"/>
            <a:ext cx="4480560" cy="36576"/>
          </a:xfrm>
          <a:prstGeom prst="rect">
            <a:avLst/>
          </a:prstGeom>
          <a:solidFill>
            <a:srgbClr val="D8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7376" y="2962656"/>
            <a:ext cx="292608" cy="292608"/>
          </a:xfrm>
          <a:prstGeom prst="ellipse">
            <a:avLst/>
          </a:prstGeom>
          <a:solidFill>
            <a:srgbClr val="F5F7FB"/>
          </a:solidFill>
          <a:ln w="5080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3493008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2F6B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9008" y="3822191"/>
            <a:ext cx="160934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D6D87"/>
                </a:solidFill>
                <a:latin typeface="Aptos"/>
              </a:rPr>
              <a:t>Inputs</a:t>
            </a:r>
          </a:p>
        </p:txBody>
      </p:sp>
      <p:sp>
        <p:nvSpPr>
          <p:cNvPr id="17" name="Oval 16"/>
          <p:cNvSpPr/>
          <p:nvPr/>
        </p:nvSpPr>
        <p:spPr>
          <a:xfrm>
            <a:off x="8677656" y="2962656"/>
            <a:ext cx="292608" cy="292608"/>
          </a:xfrm>
          <a:prstGeom prst="ellipse">
            <a:avLst/>
          </a:prstGeom>
          <a:solidFill>
            <a:srgbClr val="F5F7FB"/>
          </a:solidFill>
          <a:ln w="5080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3493008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2F6B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3822191"/>
            <a:ext cx="160934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D6D87"/>
                </a:solidFill>
                <a:latin typeface="Aptos"/>
              </a:rPr>
              <a:t>Method</a:t>
            </a:r>
          </a:p>
        </p:txBody>
      </p:sp>
      <p:sp>
        <p:nvSpPr>
          <p:cNvPr id="20" name="Oval 19"/>
          <p:cNvSpPr/>
          <p:nvPr/>
        </p:nvSpPr>
        <p:spPr>
          <a:xfrm>
            <a:off x="10917936" y="2962656"/>
            <a:ext cx="292608" cy="292608"/>
          </a:xfrm>
          <a:prstGeom prst="ellipse">
            <a:avLst/>
          </a:prstGeom>
          <a:solidFill>
            <a:srgbClr val="F5F7FB"/>
          </a:solidFill>
          <a:ln w="5080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78440" y="3493008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2F6B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9568" y="3822191"/>
            <a:ext cx="160934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D6D87"/>
                </a:solidFill>
                <a:latin typeface="Aptos"/>
              </a:rPr>
              <a:t>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47472"/>
            <a:ext cx="146304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7947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68096"/>
            <a:ext cx="96926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F6B"/>
                </a:solidFill>
                <a:latin typeface="Aptos"/>
              </a:rPr>
              <a:t>Results +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The most useful result belongs 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92240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D6D87"/>
                </a:solidFill>
                <a:latin typeface="Aptos"/>
              </a:rPr>
              <a:t>LAB MEETING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6848" y="6382512"/>
            <a:ext cx="384048" cy="274320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56848" y="64145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874519"/>
            <a:ext cx="6720840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020824"/>
            <a:ext cx="1554480" cy="219456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2828"/>
            <a:ext cx="1554480" cy="18287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FIGURE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" y="4553712"/>
            <a:ext cx="219456" cy="502920"/>
          </a:xfrm>
          <a:prstGeom prst="rect">
            <a:avLst/>
          </a:prstGeom>
          <a:solidFill>
            <a:srgbClr val="146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17904" y="4233672"/>
            <a:ext cx="219456" cy="822960"/>
          </a:xfrm>
          <a:prstGeom prst="rect">
            <a:avLst/>
          </a:prstGeom>
          <a:solidFill>
            <a:srgbClr val="1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93392" y="4416552"/>
            <a:ext cx="219456" cy="640080"/>
          </a:xfrm>
          <a:prstGeom prst="rect">
            <a:avLst/>
          </a:prstGeom>
          <a:solidFill>
            <a:srgbClr val="146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4005072"/>
            <a:ext cx="219456" cy="1051560"/>
          </a:xfrm>
          <a:prstGeom prst="rect">
            <a:avLst/>
          </a:prstGeom>
          <a:solidFill>
            <a:srgbClr val="1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44368" y="4306824"/>
            <a:ext cx="219456" cy="749808"/>
          </a:xfrm>
          <a:prstGeom prst="rect">
            <a:avLst/>
          </a:prstGeom>
          <a:solidFill>
            <a:srgbClr val="146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57600"/>
            <a:ext cx="6172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5D6D87"/>
                </a:solidFill>
                <a:latin typeface="Aptos"/>
              </a:rPr>
              <a:t>FIGURE OR 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874519"/>
            <a:ext cx="4206240" cy="1417320"/>
          </a:xfrm>
          <a:prstGeom prst="roundRect">
            <a:avLst/>
          </a:prstGeom>
          <a:solidFill>
            <a:srgbClr val="E4F5F4"/>
          </a:solidFill>
          <a:ln w="8890">
            <a:solidFill>
              <a:srgbClr val="E4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2002536"/>
            <a:ext cx="3877055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6A6"/>
                </a:solidFill>
                <a:latin typeface="Aptos"/>
              </a:rPr>
              <a:t>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1" y="2258568"/>
            <a:ext cx="3877055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F6B"/>
                </a:solidFill>
                <a:latin typeface="Aptos"/>
              </a:rPr>
              <a:t>State the result in one sentence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3657600"/>
            <a:ext cx="1691640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4383" y="3813048"/>
            <a:ext cx="13990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02F6B"/>
                </a:solidFill>
                <a:latin typeface="Aptos"/>
              </a:rPr>
              <a:t>--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383" y="4224528"/>
            <a:ext cx="13990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D6D87"/>
                </a:solidFill>
                <a:latin typeface="Aptos"/>
              </a:rPr>
              <a:t>Metric label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3657600"/>
            <a:ext cx="1691640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0344" y="3813048"/>
            <a:ext cx="13990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02F6B"/>
                </a:solidFill>
                <a:latin typeface="Aptos"/>
              </a:rPr>
              <a:t>--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0344" y="4224528"/>
            <a:ext cx="13990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D6D87"/>
                </a:solidFill>
                <a:latin typeface="Aptos"/>
              </a:rPr>
              <a:t>Metric label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47472"/>
            <a:ext cx="146304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7947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68096"/>
            <a:ext cx="96926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F6B"/>
                </a:solidFill>
                <a:latin typeface="Aptos"/>
              </a:rP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Two analysis choices with different 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92240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D6D87"/>
                </a:solidFill>
                <a:latin typeface="Aptos"/>
              </a:rPr>
              <a:t>LAB MEETING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6848" y="6382512"/>
            <a:ext cx="384048" cy="274320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56848" y="64145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874519"/>
            <a:ext cx="5504688" cy="4160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8776" y="1874519"/>
            <a:ext cx="5504688" cy="4160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5915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02F6B"/>
                </a:solidFill>
                <a:latin typeface="Aptos"/>
              </a:rPr>
              <a:t>Option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35915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02F6B"/>
                </a:solidFill>
                <a:latin typeface="Aptos"/>
              </a:rPr>
              <a:t>Option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80360"/>
            <a:ext cx="4480560" cy="1828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Criterion or observation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Strength or limitation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What it would require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880360"/>
            <a:ext cx="4480560" cy="1828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Criterion or observation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Strength or limitation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What it would require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47472"/>
            <a:ext cx="146304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7947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68096"/>
            <a:ext cx="96926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F6B"/>
                </a:solidFill>
                <a:latin typeface="Aptos"/>
              </a:rPr>
              <a:t>Timeline /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What happens before the next lab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92240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D6D87"/>
                </a:solidFill>
                <a:latin typeface="Aptos"/>
              </a:rPr>
              <a:t>LAB MEETING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6848" y="6382512"/>
            <a:ext cx="384048" cy="274320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56848" y="64145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926080"/>
            <a:ext cx="10698480" cy="36576"/>
          </a:xfrm>
          <a:prstGeom prst="rect">
            <a:avLst/>
          </a:prstGeom>
          <a:solidFill>
            <a:srgbClr val="D8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2779776"/>
            <a:ext cx="292608" cy="292608"/>
          </a:xfrm>
          <a:prstGeom prst="ellipse">
            <a:avLst/>
          </a:prstGeom>
          <a:solidFill>
            <a:srgbClr val="F5F7FB"/>
          </a:solidFill>
          <a:ln w="5080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39" y="3310128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2F6B"/>
                </a:solidFill>
                <a:latin typeface="Aptos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27432" y="3639312"/>
            <a:ext cx="160934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D6D87"/>
                </a:solidFill>
                <a:latin typeface="Aptos"/>
              </a:rPr>
              <a:t>Current state</a:t>
            </a:r>
          </a:p>
        </p:txBody>
      </p:sp>
      <p:sp>
        <p:nvSpPr>
          <p:cNvPr id="13" name="Oval 12"/>
          <p:cNvSpPr/>
          <p:nvPr/>
        </p:nvSpPr>
        <p:spPr>
          <a:xfrm>
            <a:off x="5980175" y="2779776"/>
            <a:ext cx="292608" cy="292608"/>
          </a:xfrm>
          <a:prstGeom prst="ellipse">
            <a:avLst/>
          </a:prstGeom>
          <a:solidFill>
            <a:srgbClr val="F5F7FB"/>
          </a:solidFill>
          <a:ln w="5080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79" y="3310128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2F6B"/>
                </a:solidFill>
                <a:latin typeface="Aptos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7" y="3639312"/>
            <a:ext cx="160934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D6D87"/>
                </a:solidFill>
                <a:latin typeface="Aptos"/>
              </a:rPr>
              <a:t>Planned work</a:t>
            </a:r>
          </a:p>
        </p:txBody>
      </p:sp>
      <p:sp>
        <p:nvSpPr>
          <p:cNvPr id="16" name="Oval 15"/>
          <p:cNvSpPr/>
          <p:nvPr/>
        </p:nvSpPr>
        <p:spPr>
          <a:xfrm>
            <a:off x="11329415" y="2779776"/>
            <a:ext cx="292608" cy="292608"/>
          </a:xfrm>
          <a:prstGeom prst="ellipse">
            <a:avLst/>
          </a:prstGeom>
          <a:solidFill>
            <a:srgbClr val="F5F7FB"/>
          </a:solidFill>
          <a:ln w="5080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19" y="3310128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2F6B"/>
                </a:solidFill>
                <a:latin typeface="Aptos"/>
              </a:rPr>
              <a:t>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71047" y="3639312"/>
            <a:ext cx="160934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D6D87"/>
                </a:solidFill>
                <a:latin typeface="Aptos"/>
              </a:rPr>
              <a:t>Decision 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4617720"/>
            <a:ext cx="4434840" cy="914400"/>
          </a:xfrm>
          <a:prstGeom prst="roundRect">
            <a:avLst/>
          </a:prstGeom>
          <a:solidFill>
            <a:srgbClr val="E4F5F4"/>
          </a:solidFill>
          <a:ln w="8890">
            <a:solidFill>
              <a:srgbClr val="E4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4745736"/>
            <a:ext cx="4105655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6A6"/>
                </a:solidFill>
                <a:latin typeface="Aptos"/>
              </a:rPr>
              <a:t>NEXT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5001768"/>
            <a:ext cx="4105655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F6B"/>
                </a:solidFill>
                <a:latin typeface="Aptos"/>
              </a:rPr>
              <a:t>Name the next action, owner, and review 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47472"/>
            <a:ext cx="146304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7947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68096"/>
            <a:ext cx="96926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F6B"/>
                </a:solidFill>
                <a:latin typeface="Aptos"/>
              </a:rPr>
              <a:t>Discussion /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Choose the next validation slice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92240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D6D87"/>
                </a:solidFill>
                <a:latin typeface="Aptos"/>
              </a:rPr>
              <a:t>LAB MEETING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6848" y="6382512"/>
            <a:ext cx="384048" cy="274320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56848" y="64145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920240"/>
            <a:ext cx="6400800" cy="1325880"/>
          </a:xfrm>
          <a:prstGeom prst="roundRect">
            <a:avLst/>
          </a:prstGeom>
          <a:solidFill>
            <a:srgbClr val="E4F5F4"/>
          </a:solidFill>
          <a:ln w="8890">
            <a:solidFill>
              <a:srgbClr val="E4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48256"/>
            <a:ext cx="60716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6A6"/>
                </a:solidFill>
                <a:latin typeface="Aptos"/>
              </a:rPr>
              <a:t>DECISION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04288"/>
            <a:ext cx="6071616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F6B"/>
                </a:solidFill>
                <a:latin typeface="Aptos"/>
              </a:rPr>
              <a:t>Write the question for the room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920240"/>
            <a:ext cx="4526280" cy="3474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42631" y="2066544"/>
            <a:ext cx="1554480" cy="219456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1" y="2098548"/>
            <a:ext cx="1554480" cy="18287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514600"/>
            <a:ext cx="3840480" cy="1828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Option or trade-off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Option or trade-off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Recommendation or owner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47472"/>
            <a:ext cx="146304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7947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68096"/>
            <a:ext cx="96926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F6B"/>
                </a:solidFill>
                <a:latin typeface="Aptos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Questions, notes, and follow-up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92240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D6D87"/>
                </a:solidFill>
                <a:latin typeface="Aptos"/>
              </a:rPr>
              <a:t>LAB MEETING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6848" y="6382512"/>
            <a:ext cx="384048" cy="274320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56848" y="64145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73152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102F6B"/>
                </a:solidFill>
                <a:latin typeface="Aptos"/>
              </a:rPr>
              <a:t>Closing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063240"/>
            <a:ext cx="6400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Questions, notes, and follow-up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3657600"/>
            <a:ext cx="141732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689604"/>
            <a:ext cx="14173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