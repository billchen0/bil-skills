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LAB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Meeting topic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Presenter name  •  Lab /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84831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02F6B"/>
                </a:solidFill>
                <a:latin typeface="Aptos"/>
              </a:rPr>
              <a:t>Meeting topic goes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3464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Presenter name  •  Lab /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4846320" cy="91440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785615"/>
            <a:ext cx="451713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041648"/>
            <a:ext cx="4517136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Use one sentence to state the meeting's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A focused section of the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Replace with a short section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9601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02F6B"/>
                </a:solidFill>
                <a:latin typeface="Aptos"/>
              </a:rPr>
              <a:t>A focused section of the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182112"/>
            <a:ext cx="6675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Replace with a short section 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Research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Editable placeholder content for a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23944" y="1874519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1874519"/>
            <a:ext cx="3474720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591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3591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359152"/>
            <a:ext cx="2926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Open issue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Methods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Editable placeholder content for a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59152"/>
            <a:ext cx="47548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Add a short method description and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63240"/>
            <a:ext cx="457200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Inputs and inclusion rules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Transformation or model step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Review and quality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108960"/>
            <a:ext cx="4480560" cy="3657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7376" y="296265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49300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3822191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Inputs</a:t>
            </a:r>
          </a:p>
        </p:txBody>
      </p:sp>
      <p:sp>
        <p:nvSpPr>
          <p:cNvPr id="17" name="Oval 16"/>
          <p:cNvSpPr/>
          <p:nvPr/>
        </p:nvSpPr>
        <p:spPr>
          <a:xfrm>
            <a:off x="8677656" y="296265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49300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822191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Method</a:t>
            </a:r>
          </a:p>
        </p:txBody>
      </p:sp>
      <p:sp>
        <p:nvSpPr>
          <p:cNvPr id="20" name="Oval 19"/>
          <p:cNvSpPr/>
          <p:nvPr/>
        </p:nvSpPr>
        <p:spPr>
          <a:xfrm>
            <a:off x="10917936" y="296265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349300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3822191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Results +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Editable placeholder content for a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6720840" cy="3840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20824"/>
            <a:ext cx="1554480" cy="219456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2828"/>
            <a:ext cx="1554480" cy="1828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FIGURE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" y="4553712"/>
            <a:ext cx="219456" cy="502920"/>
          </a:xfrm>
          <a:prstGeom prst="rect">
            <a:avLst/>
          </a:prstGeom>
          <a:solidFill>
            <a:srgbClr val="146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17904" y="4233672"/>
            <a:ext cx="219456" cy="822960"/>
          </a:xfrm>
          <a:prstGeom prst="rect">
            <a:avLst/>
          </a:prstGeom>
          <a:solidFill>
            <a:srgbClr val="1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93392" y="4416552"/>
            <a:ext cx="219456" cy="640080"/>
          </a:xfrm>
          <a:prstGeom prst="rect">
            <a:avLst/>
          </a:prstGeom>
          <a:solidFill>
            <a:srgbClr val="146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4005072"/>
            <a:ext cx="219456" cy="1051560"/>
          </a:xfrm>
          <a:prstGeom prst="rect">
            <a:avLst/>
          </a:prstGeom>
          <a:solidFill>
            <a:srgbClr val="1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44368" y="4306824"/>
            <a:ext cx="219456" cy="749808"/>
          </a:xfrm>
          <a:prstGeom prst="rect">
            <a:avLst/>
          </a:prstGeom>
          <a:solidFill>
            <a:srgbClr val="146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57600"/>
            <a:ext cx="6172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5D6D87"/>
                </a:solidFill>
                <a:latin typeface="Aptos"/>
              </a:rPr>
              <a:t>FIGURE OR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74519"/>
            <a:ext cx="4206240" cy="141732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2002536"/>
            <a:ext cx="387705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2671" y="2258568"/>
            <a:ext cx="3877055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State the result in one sentence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657600"/>
            <a:ext cx="169164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3" y="3813048"/>
            <a:ext cx="1399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02F6B"/>
                </a:solidFill>
                <a:latin typeface="Aptos"/>
              </a:rPr>
              <a:t>--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4224528"/>
            <a:ext cx="1399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D6D87"/>
                </a:solidFill>
                <a:latin typeface="Aptos"/>
              </a:rPr>
              <a:t>Metric label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3657600"/>
            <a:ext cx="169164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0344" y="3813048"/>
            <a:ext cx="13990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02F6B"/>
                </a:solidFill>
                <a:latin typeface="Aptos"/>
              </a:rPr>
              <a:t>--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4224528"/>
            <a:ext cx="13990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D6D87"/>
                </a:solidFill>
                <a:latin typeface="Aptos"/>
              </a:rPr>
              <a:t>Metric 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Editable placeholder content for a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504688" cy="4160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5915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F6B"/>
                </a:solidFill>
                <a:latin typeface="Aptos"/>
              </a:rPr>
              <a:t>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59152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02F6B"/>
                </a:solidFill>
                <a:latin typeface="Aptos"/>
              </a:rPr>
              <a:t>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0360"/>
            <a:ext cx="448056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Criterion or observation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Strength or limitation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What it would require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880360"/>
            <a:ext cx="448056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Criterion or observation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Strength or limitation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What it would require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Timeline /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Editable placeholder content for a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10698480" cy="36576"/>
          </a:xfrm>
          <a:prstGeom prst="rect">
            <a:avLst/>
          </a:prstGeom>
          <a:solidFill>
            <a:srgbClr val="D8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277977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" y="33101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7432" y="3639312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Current state</a:t>
            </a:r>
          </a:p>
        </p:txBody>
      </p:sp>
      <p:sp>
        <p:nvSpPr>
          <p:cNvPr id="13" name="Oval 12"/>
          <p:cNvSpPr/>
          <p:nvPr/>
        </p:nvSpPr>
        <p:spPr>
          <a:xfrm>
            <a:off x="5980175" y="277977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79" y="33101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3639312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Planned work</a:t>
            </a:r>
          </a:p>
        </p:txBody>
      </p:sp>
      <p:sp>
        <p:nvSpPr>
          <p:cNvPr id="16" name="Oval 15"/>
          <p:cNvSpPr/>
          <p:nvPr/>
        </p:nvSpPr>
        <p:spPr>
          <a:xfrm>
            <a:off x="11329415" y="2779776"/>
            <a:ext cx="292608" cy="292608"/>
          </a:xfrm>
          <a:prstGeom prst="ellipse">
            <a:avLst/>
          </a:prstGeom>
          <a:solidFill>
            <a:srgbClr val="F5F7FB"/>
          </a:solidFill>
          <a:ln w="5080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19" y="3310128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2F6B"/>
                </a:solidFill>
                <a:latin typeface="Aptos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1047" y="3639312"/>
            <a:ext cx="160934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5D6D87"/>
                </a:solidFill>
                <a:latin typeface="Aptos"/>
              </a:rPr>
              <a:t>Decision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4617720"/>
            <a:ext cx="4434840" cy="91440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50791" y="4745736"/>
            <a:ext cx="4105655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5001768"/>
            <a:ext cx="4105655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Name the next action, owner, and review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Discussion /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Editable placeholder content for a lab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920240"/>
            <a:ext cx="6400800" cy="1325880"/>
          </a:xfrm>
          <a:prstGeom prst="roundRect">
            <a:avLst/>
          </a:prstGeom>
          <a:solidFill>
            <a:srgbClr val="E4F5F4"/>
          </a:solidFill>
          <a:ln w="8890">
            <a:solidFill>
              <a:srgbClr val="E4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48256"/>
            <a:ext cx="6071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6A6"/>
                </a:solidFill>
                <a:latin typeface="Aptos"/>
              </a:rPr>
              <a:t>DECISION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6071616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2F6B"/>
                </a:solidFill>
                <a:latin typeface="Aptos"/>
              </a:rPr>
              <a:t>Write the question for the 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920240"/>
            <a:ext cx="4526280" cy="3474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42631" y="2066544"/>
            <a:ext cx="1554480" cy="219456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2098548"/>
            <a:ext cx="1554480" cy="18287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514600"/>
            <a:ext cx="3840480" cy="1828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Option or trade-off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Option or trade-off</a:t>
            </a:r>
          </a:p>
          <a:p>
            <a:pPr>
              <a:buChar char="•"/>
              <a:spcAft>
                <a:spcPts val="800"/>
              </a:spcAft>
              <a:defRPr sz="1400">
                <a:solidFill>
                  <a:srgbClr val="102F6B"/>
                </a:solidFill>
                <a:latin typeface="Aptos"/>
              </a:defRPr>
            </a:pPr>
            <a:r>
              <a:t>Recommendation or 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47472"/>
            <a:ext cx="146304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379476"/>
            <a:ext cx="14630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68096"/>
            <a:ext cx="96926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102F6B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Questions, notes, and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492240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5D6D87"/>
                </a:solidFill>
                <a:latin typeface="Aptos"/>
              </a:rPr>
              <a:t>LAB MEETING LIBRARY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56848" y="6382512"/>
            <a:ext cx="384048" cy="274320"/>
          </a:xfrm>
          <a:prstGeom prst="roundRect">
            <a:avLst/>
          </a:prstGeom>
          <a:solidFill>
            <a:srgbClr val="146C9E"/>
          </a:solidFill>
          <a:ln w="8890">
            <a:solidFill>
              <a:srgbClr val="14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56848" y="6414516"/>
            <a:ext cx="38404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7315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02F6B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06324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5D6D87"/>
                </a:solidFill>
                <a:latin typeface="Aptos"/>
              </a:rPr>
              <a:t>Questions, notes, and follow-up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657600"/>
            <a:ext cx="1417320" cy="256032"/>
          </a:xfrm>
          <a:prstGeom prst="roundRect">
            <a:avLst/>
          </a:prstGeom>
          <a:solidFill>
            <a:srgbClr val="16A6A6"/>
          </a:solidFill>
          <a:ln w="8890">
            <a:solidFill>
              <a:srgbClr val="1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689604"/>
            <a:ext cx="14173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